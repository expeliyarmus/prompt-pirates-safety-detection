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2" r:id="rId5"/>
    <p:sldId id="264" r:id="rId6"/>
    <p:sldId id="265" r:id="rId7"/>
    <p:sldId id="268" r:id="rId8"/>
    <p:sldId id="266" r:id="rId9"/>
    <p:sldId id="260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A"/>
    <a:srgbClr val="1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65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59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8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2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6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39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40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85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94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3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61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67D8C-C9A5-470F-A60A-C0E71B3D8E33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B082B-BC58-45B1-B0EF-36043B826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18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Story Pin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988" y="-13146"/>
            <a:ext cx="12257988" cy="687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5900" y="2324100"/>
            <a:ext cx="8305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SENTIN</a:t>
            </a:r>
            <a:r>
              <a:rPr lang="en-IN" sz="8800" dirty="0" smtClean="0">
                <a:ln w="57150">
                  <a:solidFill>
                    <a:schemeClr val="bg1"/>
                  </a:solidFill>
                </a:ln>
                <a:noFill/>
                <a:latin typeface="Arial Black" panose="020B0A04020102020204" pitchFamily="34" charset="0"/>
              </a:rPr>
              <a:t>ELS</a:t>
            </a:r>
            <a:r>
              <a:rPr lang="en-IN" sz="8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OF SAFE</a:t>
            </a:r>
            <a:r>
              <a:rPr lang="en-IN" sz="8800" dirty="0" smtClean="0">
                <a:ln w="76200">
                  <a:solidFill>
                    <a:schemeClr val="bg1"/>
                  </a:solidFill>
                </a:ln>
                <a:noFill/>
                <a:latin typeface="Arial Black" panose="020B0A04020102020204" pitchFamily="34" charset="0"/>
              </a:rPr>
              <a:t>TY</a:t>
            </a:r>
            <a:endParaRPr lang="en-US" sz="8800" dirty="0">
              <a:ln w="76200">
                <a:solidFill>
                  <a:schemeClr val="bg1"/>
                </a:solidFill>
              </a:ln>
              <a:noFill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2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the night sky is filled with bright sta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227387" y="-2690813"/>
            <a:ext cx="5702299" cy="1222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498473" y="771673"/>
            <a:ext cx="1116012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PROBLEM STATEMENT:</a:t>
            </a:r>
            <a:r>
              <a:rPr lang="en-US" sz="2000" dirty="0" smtClean="0">
                <a:solidFill>
                  <a:schemeClr val="bg1"/>
                </a:solidFill>
              </a:rPr>
              <a:t/>
            </a:r>
            <a:br>
              <a:rPr lang="en-US" sz="2000" dirty="0" smtClean="0">
                <a:solidFill>
                  <a:schemeClr val="bg1"/>
                </a:solidFill>
              </a:rPr>
            </a:br>
            <a:r>
              <a:rPr lang="en-US" sz="2400" b="1" dirty="0" smtClean="0">
                <a:solidFill>
                  <a:schemeClr val="bg1"/>
                </a:solidFill>
              </a:rPr>
              <a:t>Space missions rely on flawless identification of critical safety equipment, but gathering real-world training data in space is difficult and restricted. Leveraging Falcon’s digital twin environment, high-fidelity synthetic data enables safe, scalable, and realistic training for AI-driven detection.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473" y="5059256"/>
            <a:ext cx="108219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dirty="0" smtClean="0">
                <a:solidFill>
                  <a:schemeClr val="bg1"/>
                </a:solidFill>
                <a:latin typeface="Bodoni MT Poster Compressed" panose="02070706080601050204" pitchFamily="18" charset="0"/>
              </a:rPr>
              <a:t>~Spotting danger before it becomes a problem.</a:t>
            </a:r>
            <a:br>
              <a:rPr lang="en-US" sz="3200" i="1" dirty="0" smtClean="0">
                <a:solidFill>
                  <a:schemeClr val="bg1"/>
                </a:solidFill>
                <a:latin typeface="Bodoni MT Poster Compressed" panose="02070706080601050204" pitchFamily="18" charset="0"/>
              </a:rPr>
            </a:br>
            <a:r>
              <a:rPr lang="en-US" sz="3200" i="1" dirty="0" smtClean="0">
                <a:solidFill>
                  <a:schemeClr val="bg1"/>
                </a:solidFill>
                <a:latin typeface="Bodoni MT Poster Compressed" panose="02070706080601050204" pitchFamily="18" charset="0"/>
              </a:rPr>
              <a:t>Ensuring Safety in Space Stations Using Falcon and YOLO~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473" y="2921382"/>
            <a:ext cx="111601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OBJECTIVES:</a:t>
            </a:r>
            <a:endParaRPr lang="en-US" sz="2800" b="1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Train a robust YOLO model to detect 7 key pieces of space-station safety equipment.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Evaluate performance under varied lighting, object angles, and occlusions.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Optimize the model for accuracy, reliability, and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Demonstrate a real-world deployment use case powered by the detection pipeline.</a:t>
            </a:r>
          </a:p>
        </p:txBody>
      </p:sp>
    </p:spTree>
    <p:extLst>
      <p:ext uri="{BB962C8B-B14F-4D97-AF65-F5344CB8AC3E}">
        <p14:creationId xmlns:p14="http://schemas.microsoft.com/office/powerpoint/2010/main" val="277723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This may contain: an image of the earth from space with stars in the foreground and on the far s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64930" y="-2664928"/>
            <a:ext cx="6857998" cy="1218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48" b="8609"/>
          <a:stretch/>
        </p:blipFill>
        <p:spPr>
          <a:xfrm>
            <a:off x="285826" y="1549400"/>
            <a:ext cx="11616206" cy="508158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91914" y="779959"/>
            <a:ext cx="1050479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MODEL DEVELOPMENT PROCESS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15923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is may contain: saturn and its rings in the night sk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900922">
            <a:off x="8284453" y="2976785"/>
            <a:ext cx="2943225" cy="523240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595131" y="285234"/>
            <a:ext cx="71609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KEY FINDINGS &amp; INSIGHTS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465110" y="1195864"/>
            <a:ext cx="11155390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1. ROBUSTNESS </a:t>
            </a:r>
            <a:r>
              <a:rPr lang="en-US" alt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TO VARIATION: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The model maintained high precision/recall under varied lighting and camera angles, showing that synthetic data effectively captured real-world variance.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2. CONFUSION </a:t>
            </a:r>
            <a:r>
              <a:rPr lang="en-US" alt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PATTERNS: </a:t>
            </a:r>
            <a:endParaRPr lang="en-US" altLang="en-US" sz="24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Some misclassifications emerged — e.g.,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Fire Alarm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vs 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Safety Panel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under occlusion — suggesting overlapping visual features or insufficient training diversity.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3. FALIURE </a:t>
            </a:r>
            <a:r>
              <a:rPr lang="en-US" alt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ANALYSIS: </a:t>
            </a:r>
            <a:endParaRPr lang="en-US" altLang="en-US" sz="24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In rare edge cases (deep shadow, extreme occlusion), the model struggled, highlighting boundary conditions not well represented in the synthetic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4. TRAINING </a:t>
            </a:r>
            <a:r>
              <a:rPr lang="en-US" alt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BEHAVIOUR: </a:t>
            </a:r>
            <a:endParaRPr lang="en-US" altLang="en-US" sz="2400" dirty="0" smtClean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The loss curves stabilized early, indicating relatively stable convergence and no major overfitting on the synthetic training set.</a:t>
            </a:r>
          </a:p>
        </p:txBody>
      </p:sp>
    </p:spTree>
    <p:extLst>
      <p:ext uri="{BB962C8B-B14F-4D97-AF65-F5344CB8AC3E}">
        <p14:creationId xmlns:p14="http://schemas.microsoft.com/office/powerpoint/2010/main" val="162469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2" descr="This may contain: the sun shines brightly over the earth's horizon as seen from outer sp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7000" y="-266700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Content Placeholder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09"/>
          <a:stretch/>
        </p:blipFill>
        <p:spPr>
          <a:xfrm>
            <a:off x="-812800" y="1587500"/>
            <a:ext cx="13843000" cy="6426200"/>
          </a:xfrm>
          <a:prstGeom prst="rect">
            <a:avLst/>
          </a:prstGeom>
        </p:spPr>
      </p:pic>
      <p:pic>
        <p:nvPicPr>
          <p:cNvPr id="9" name="Content Placeholder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23" t="7132" r="25964" b="83835"/>
          <a:stretch/>
        </p:blipFill>
        <p:spPr>
          <a:xfrm>
            <a:off x="666749" y="105966"/>
            <a:ext cx="11416341" cy="12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5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8" descr="Story Pin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711450" y="-2711451"/>
            <a:ext cx="6857999" cy="1228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0" t="29128" r="4350" b="14066"/>
          <a:stretch/>
        </p:blipFill>
        <p:spPr>
          <a:xfrm>
            <a:off x="2718485" y="3347972"/>
            <a:ext cx="8041700" cy="3169509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31800" y="1144588"/>
            <a:ext cx="121920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Difficulty converting the trained model into a functional application.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Challenges in setting up and configuring the Anaconda environment.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Complexity in designing a usable interface for model interaction.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Inaccurate measurement of equipment dimensions due to model limitations.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27400" y="223839"/>
            <a:ext cx="553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87596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 black and white photo of sand dunes at nigh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07"/>
          <a:stretch/>
        </p:blipFill>
        <p:spPr bwMode="auto">
          <a:xfrm rot="5400000">
            <a:off x="2627085" y="-2627086"/>
            <a:ext cx="7010400" cy="12264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94" y="1412741"/>
            <a:ext cx="5857051" cy="4809743"/>
          </a:xfrm>
        </p:spPr>
      </p:pic>
      <p:sp>
        <p:nvSpPr>
          <p:cNvPr id="5" name="Rectangle 4"/>
          <p:cNvSpPr/>
          <p:nvPr/>
        </p:nvSpPr>
        <p:spPr>
          <a:xfrm>
            <a:off x="3429910" y="121100"/>
            <a:ext cx="5404749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IN" sz="3600" b="1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BONUS POINT?</a:t>
            </a:r>
            <a:r>
              <a:rPr lang="en-IN" sz="4800" b="1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/>
            </a:r>
            <a:br>
              <a:rPr lang="en-IN" sz="4800" b="1" dirty="0" smtClean="0">
                <a:solidFill>
                  <a:prstClr val="white"/>
                </a:solidFill>
                <a:latin typeface="Arial Black" panose="020B0A04020102020204" pitchFamily="34" charset="0"/>
              </a:rPr>
            </a:br>
            <a:r>
              <a:rPr lang="en-IN" sz="4800" b="1" dirty="0" smtClean="0">
                <a:solidFill>
                  <a:prstClr val="white"/>
                </a:solidFill>
                <a:latin typeface="Arial Black" panose="020B0A04020102020204" pitchFamily="34" charset="0"/>
              </a:rPr>
              <a:t>YES IT WORKS!</a:t>
            </a:r>
            <a:endParaRPr lang="en-IN" sz="4800" b="1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78333" y="1832453"/>
            <a:ext cx="561366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How It Works?</a:t>
            </a:r>
          </a:p>
          <a:p>
            <a:pPr>
              <a:buFont typeface="+mj-lt"/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User </a:t>
            </a:r>
            <a:r>
              <a:rPr lang="en-US" sz="2800" dirty="0">
                <a:solidFill>
                  <a:schemeClr val="bg1"/>
                </a:solidFill>
              </a:rPr>
              <a:t>uploads or captures an image.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The model performs instant inference.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Bounding boxes + class labels appear on-screen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Demo </a:t>
            </a:r>
            <a:r>
              <a:rPr lang="en-US" sz="2800" dirty="0">
                <a:solidFill>
                  <a:schemeClr val="bg1"/>
                </a:solidFill>
              </a:rPr>
              <a:t>not based on data which </a:t>
            </a:r>
            <a:r>
              <a:rPr lang="en-US" sz="2800" dirty="0" smtClean="0">
                <a:solidFill>
                  <a:schemeClr val="bg1"/>
                </a:solidFill>
              </a:rPr>
              <a:t>has been provided</a:t>
            </a:r>
          </a:p>
          <a:p>
            <a:pPr>
              <a:buFont typeface="+mj-lt"/>
              <a:buAutoNum type="arabicPeriod"/>
            </a:pPr>
            <a:r>
              <a:rPr lang="en-US" sz="2800" dirty="0" smtClean="0">
                <a:solidFill>
                  <a:schemeClr val="bg1"/>
                </a:solidFill>
              </a:rPr>
              <a:t>Works </a:t>
            </a:r>
            <a:r>
              <a:rPr lang="en-US" sz="2800" dirty="0">
                <a:solidFill>
                  <a:schemeClr val="bg1"/>
                </a:solidFill>
              </a:rPr>
              <a:t>on YOLOv8 </a:t>
            </a:r>
            <a:r>
              <a:rPr lang="en-US" sz="2800" dirty="0" smtClean="0">
                <a:solidFill>
                  <a:schemeClr val="bg1"/>
                </a:solidFill>
              </a:rPr>
              <a:t>(Deep Learning) and </a:t>
            </a:r>
            <a:r>
              <a:rPr lang="en-US" sz="2800" dirty="0">
                <a:solidFill>
                  <a:schemeClr val="bg1"/>
                </a:solidFill>
              </a:rPr>
              <a:t>uses </a:t>
            </a:r>
            <a:r>
              <a:rPr lang="en-US" sz="2800" dirty="0" err="1">
                <a:solidFill>
                  <a:schemeClr val="bg1"/>
                </a:solidFill>
              </a:rPr>
              <a:t>G</a:t>
            </a:r>
            <a:r>
              <a:rPr lang="en-US" sz="2800" dirty="0" err="1" smtClean="0">
                <a:solidFill>
                  <a:schemeClr val="bg1"/>
                </a:solidFill>
              </a:rPr>
              <a:t>radio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5692" y="6222484"/>
            <a:ext cx="704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bg1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can be done for other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equipments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too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(here in</a:t>
            </a:r>
            <a:r>
              <a:rPr lang="en-US" dirty="0" smtClean="0">
                <a:solidFill>
                  <a:schemeClr val="bg1"/>
                </a:solidFill>
                <a:latin typeface="Consolas" panose="020B0609020204030204" pitchFamily="49" charset="0"/>
              </a:rPr>
              <a:t>%)]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730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This may contain: an image of the night sky with sta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590800" y="-2590799"/>
            <a:ext cx="70104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044700" y="365125"/>
            <a:ext cx="810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CONCLUSION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799" y="1091337"/>
            <a:ext cx="1082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Using Falcon’s synthetic data, our YOLO-based pipeline reliably detects critical space-station safety equipment even under challenging visual conditions, and when an image is passed through YOLOv8, it automatically generates bounding boxes to identify and classify each piece of equipment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9949" y="2998113"/>
            <a:ext cx="564770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IN" sz="3600" dirty="0">
                <a:solidFill>
                  <a:prstClr val="white"/>
                </a:solidFill>
                <a:latin typeface="Arial Black" panose="020B0A04020102020204" pitchFamily="34" charset="0"/>
              </a:rPr>
              <a:t>FUTURE DIRECTIONS</a:t>
            </a:r>
            <a:endParaRPr lang="en-US" sz="3600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38199" y="3710375"/>
            <a:ext cx="10871201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Fine-tune the model on a small real-world or simulated real-like dataset to bridge the domain gap.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Expand the synthetic dataset to include more extreme lighting/occlusion cases.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Explore multi-view detection (multiple camera angles) or use 360° simulations.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5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Develop a demo “safety-monitoring assistant” that flags unmonitored or misclassified safety equipment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10123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is may contain: the sun is shining brightly in the dark night sky, as seen from an airplane wind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74268" y="-3423568"/>
            <a:ext cx="6847136" cy="13694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36587" y="137276"/>
            <a:ext cx="7033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MEET THE TEAM: </a:t>
            </a:r>
            <a:r>
              <a:rPr lang="en-U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32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4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PROMPT PIRATES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0401" y="6107422"/>
            <a:ext cx="863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rgbClr val="FFFFFF"/>
                </a:solidFill>
                <a:effectLst>
                  <a:glow rad="609600">
                    <a:schemeClr val="tx2">
                      <a:lumMod val="40000"/>
                      <a:lumOff val="60000"/>
                      <a:alpha val="40000"/>
                    </a:schemeClr>
                  </a:glow>
                </a:effectLst>
                <a:latin typeface="Lucida Calligraphy" panose="03010101010101010101" pitchFamily="66" charset="0"/>
              </a:rPr>
              <a:t>~Navigating Space safety with a sharp vision~</a:t>
            </a:r>
            <a:endParaRPr lang="en-US" sz="2400" dirty="0">
              <a:ln>
                <a:solidFill>
                  <a:schemeClr val="bg2">
                    <a:lumMod val="75000"/>
                  </a:schemeClr>
                </a:solidFill>
              </a:ln>
              <a:effectLst>
                <a:glow rad="609600">
                  <a:schemeClr val="tx2">
                    <a:lumMod val="40000"/>
                    <a:lumOff val="60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805064" y="3716349"/>
            <a:ext cx="3567035" cy="1967223"/>
          </a:xfrm>
          <a:prstGeom prst="roundRect">
            <a:avLst/>
          </a:prstGeom>
          <a:solidFill>
            <a:schemeClr val="bg2">
              <a:lumMod val="5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05301" y="4037046"/>
            <a:ext cx="3266798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SNEHA SINGHAL</a:t>
            </a:r>
          </a:p>
          <a:p>
            <a:pPr algn="ctr"/>
            <a:r>
              <a:rPr lang="en-US" sz="2400" i="1" dirty="0" smtClean="0">
                <a:solidFill>
                  <a:schemeClr val="bg1"/>
                </a:solidFill>
              </a:rPr>
              <a:t>B. Tech ECE @ GTB4CEC</a:t>
            </a:r>
            <a:endParaRPr lang="en-US" sz="2400" dirty="0" smtClean="0">
              <a:solidFill>
                <a:schemeClr val="bg1"/>
              </a:solidFill>
            </a:endParaRP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Insight Developer 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59" y="3716349"/>
            <a:ext cx="1629106" cy="1967223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68563" y="1431296"/>
            <a:ext cx="3567035" cy="1967223"/>
          </a:xfrm>
          <a:prstGeom prst="roundRect">
            <a:avLst/>
          </a:prstGeom>
          <a:solidFill>
            <a:schemeClr val="bg2">
              <a:lumMod val="5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185260" y="1780212"/>
            <a:ext cx="317499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TANVI SHARMA</a:t>
            </a:r>
            <a:r>
              <a:rPr lang="en-US" sz="2400" i="1" dirty="0" smtClean="0">
                <a:solidFill>
                  <a:schemeClr val="bg1"/>
                </a:solidFill>
              </a:rPr>
              <a:t/>
            </a:r>
            <a:br>
              <a:rPr lang="en-US" sz="2400" i="1" dirty="0" smtClean="0">
                <a:solidFill>
                  <a:schemeClr val="bg1"/>
                </a:solidFill>
              </a:rPr>
            </a:br>
            <a:r>
              <a:rPr lang="en-US" sz="2400" i="1" dirty="0" smtClean="0">
                <a:solidFill>
                  <a:schemeClr val="bg1"/>
                </a:solidFill>
              </a:rPr>
              <a:t>B. Tech ECE @ GTB4CEC</a:t>
            </a:r>
            <a:endParaRPr lang="en-US" sz="2400" dirty="0" smtClean="0">
              <a:solidFill>
                <a:schemeClr val="bg1"/>
              </a:solidFill>
            </a:endParaRP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Lead Coordinator</a:t>
            </a:r>
          </a:p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1" t="23967" r="17064" b="12709"/>
          <a:stretch/>
        </p:blipFill>
        <p:spPr>
          <a:xfrm>
            <a:off x="539694" y="1431296"/>
            <a:ext cx="1629107" cy="197230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54002" y="1456696"/>
            <a:ext cx="3567035" cy="1967223"/>
          </a:xfrm>
          <a:prstGeom prst="roundRect">
            <a:avLst/>
          </a:prstGeom>
          <a:solidFill>
            <a:schemeClr val="bg2">
              <a:lumMod val="5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32" t="879" r="732" b="2313"/>
          <a:stretch/>
        </p:blipFill>
        <p:spPr>
          <a:xfrm>
            <a:off x="6207115" y="1463883"/>
            <a:ext cx="1603385" cy="196722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50572" y="1785092"/>
            <a:ext cx="6096000" cy="123110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600" b="1" dirty="0" smtClean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KUNAL KAPUR</a:t>
            </a:r>
            <a:endParaRPr lang="en-US" sz="26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en-US" sz="2400" i="1" dirty="0" smtClean="0">
                <a:solidFill>
                  <a:schemeClr val="bg1"/>
                </a:solidFill>
              </a:rPr>
              <a:t>B. Tech ECE @ GTB4CEC</a:t>
            </a:r>
            <a:endParaRPr lang="en-US" sz="2400" dirty="0" smtClean="0">
              <a:solidFill>
                <a:schemeClr val="bg1"/>
              </a:solidFill>
            </a:endParaRP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Presentation Curator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54001" y="3668987"/>
            <a:ext cx="3567035" cy="1967223"/>
          </a:xfrm>
          <a:prstGeom prst="roundRect">
            <a:avLst/>
          </a:prstGeom>
          <a:solidFill>
            <a:schemeClr val="bg2">
              <a:lumMod val="50000"/>
              <a:alpha val="8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4" b="10078"/>
          <a:stretch/>
        </p:blipFill>
        <p:spPr>
          <a:xfrm>
            <a:off x="6204288" y="3668987"/>
            <a:ext cx="1606212" cy="196722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592295" y="3690435"/>
            <a:ext cx="36722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600" b="1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SAANCHI DANDRIYAL</a:t>
            </a:r>
            <a:endParaRPr lang="en-US" sz="2600" b="1" dirty="0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 algn="ctr"/>
            <a:r>
              <a:rPr lang="en-US" sz="2800" i="1" dirty="0" smtClean="0">
                <a:solidFill>
                  <a:schemeClr val="bg1"/>
                </a:solidFill>
              </a:rPr>
              <a:t>B</a:t>
            </a:r>
            <a:r>
              <a:rPr lang="en-US" sz="2800" i="1" dirty="0">
                <a:solidFill>
                  <a:schemeClr val="bg1"/>
                </a:solidFill>
              </a:rPr>
              <a:t>. </a:t>
            </a:r>
            <a:r>
              <a:rPr lang="en-US" sz="2400" i="1" dirty="0">
                <a:solidFill>
                  <a:schemeClr val="bg1"/>
                </a:solidFill>
              </a:rPr>
              <a:t>Tech ECE @ GTB4CEC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Insight </a:t>
            </a:r>
            <a:r>
              <a:rPr lang="en-US" sz="2400" dirty="0">
                <a:solidFill>
                  <a:schemeClr val="bg1"/>
                </a:solidFill>
              </a:rPr>
              <a:t>Developer</a:t>
            </a:r>
          </a:p>
        </p:txBody>
      </p:sp>
    </p:spTree>
    <p:extLst>
      <p:ext uri="{BB962C8B-B14F-4D97-AF65-F5344CB8AC3E}">
        <p14:creationId xmlns:p14="http://schemas.microsoft.com/office/powerpoint/2010/main" val="3265730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This may contain: the starry night painting is very colorfu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498734" cy="702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59433" y="393700"/>
            <a:ext cx="10873134" cy="6235700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76017" y="1988056"/>
            <a:ext cx="53467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6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THANK YOU</a:t>
            </a:r>
            <a:endParaRPr lang="en-US" sz="96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11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438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Black</vt:lpstr>
      <vt:lpstr>Bodoni MT Poster Compressed</vt:lpstr>
      <vt:lpstr>Calibri</vt:lpstr>
      <vt:lpstr>Calibri Light</vt:lpstr>
      <vt:lpstr>Consolas</vt:lpstr>
      <vt:lpstr>Lucida Calligraphy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28</cp:revision>
  <dcterms:created xsi:type="dcterms:W3CDTF">2025-11-14T16:20:45Z</dcterms:created>
  <dcterms:modified xsi:type="dcterms:W3CDTF">2025-11-15T18:17:48Z</dcterms:modified>
</cp:coreProperties>
</file>